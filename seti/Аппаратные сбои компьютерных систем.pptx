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2" clrIdx="0">
    <p:extLst>
      <p:ext uri="{19B8F6BF-5375-455C-9EA6-DF929625EA0E}">
        <p15:presenceInfo xmlns:p15="http://schemas.microsoft.com/office/powerpoint/2012/main" userId="3e2ec11d94352fa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9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98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84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8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66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260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23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27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498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60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7004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163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001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10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74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17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BB3CD-E5E2-4051-9669-0243837EA4B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4538A2A-D518-4F2F-962C-C92343C48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18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Аппаратные сбои компьютерных систем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291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32015"/>
            <a:ext cx="91107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Актуальность:</a:t>
            </a:r>
            <a:r>
              <a:rPr lang="ru-RU" sz="2800" dirty="0"/>
              <a:t> В эпоху цифровой экономики отказ оборудования даже на несколько минут может привести к потере миллионов рублей (торговля, логистика, медицина).</a:t>
            </a:r>
          </a:p>
          <a:p>
            <a:r>
              <a:rPr lang="ru-RU" sz="2800" b="1" dirty="0"/>
              <a:t>Определение:</a:t>
            </a:r>
            <a:r>
              <a:rPr lang="ru-RU" sz="2800" dirty="0"/>
              <a:t> Аппаратный сбой — это физическое нарушение работоспособности компонента вычислительной системы, вызванное изменением его электрических, механических или тепловых свойств.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6257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6070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2. Классификация сбоев </a:t>
            </a:r>
          </a:p>
          <a:p>
            <a:r>
              <a:rPr lang="ru-RU" dirty="0"/>
              <a:t>Сбои делятся по природе возникновения:</a:t>
            </a:r>
          </a:p>
          <a:p>
            <a:r>
              <a:rPr lang="ru-RU" b="1" dirty="0"/>
              <a:t>Внешние факторы:</a:t>
            </a:r>
            <a:endParaRPr lang="ru-RU" dirty="0"/>
          </a:p>
          <a:p>
            <a:pPr lvl="1"/>
            <a:r>
              <a:rPr lang="ru-RU" dirty="0"/>
              <a:t>Скачки напряжения в сети.</a:t>
            </a:r>
          </a:p>
          <a:p>
            <a:pPr lvl="1"/>
            <a:r>
              <a:rPr lang="ru-RU" dirty="0"/>
              <a:t>Электромагнитные наводки (помехи от мощных двигателей).</a:t>
            </a:r>
          </a:p>
          <a:p>
            <a:pPr lvl="1"/>
            <a:r>
              <a:rPr lang="ru-RU" dirty="0"/>
              <a:t>Температурный режим (перегрев).</a:t>
            </a:r>
          </a:p>
          <a:p>
            <a:pPr lvl="1"/>
            <a:r>
              <a:rPr lang="ru-RU" dirty="0"/>
              <a:t>Вибрация, пыль, влажность.</a:t>
            </a:r>
          </a:p>
          <a:p>
            <a:r>
              <a:rPr lang="ru-RU" b="1" dirty="0"/>
              <a:t>Внутренние факторы (деградация):</a:t>
            </a:r>
            <a:endParaRPr lang="ru-RU" dirty="0"/>
          </a:p>
          <a:p>
            <a:pPr lvl="1"/>
            <a:r>
              <a:rPr lang="ru-RU" dirty="0"/>
              <a:t>Старение полупроводников (</a:t>
            </a:r>
            <a:r>
              <a:rPr lang="ru-RU" dirty="0" err="1"/>
              <a:t>электромиграция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Износ механики (подшипники вентиляторов, двигатели HDD).</a:t>
            </a:r>
          </a:p>
          <a:p>
            <a:pPr lvl="1"/>
            <a:r>
              <a:rPr lang="ru-RU" dirty="0"/>
              <a:t>Производственный брак (поздний отказ).</a:t>
            </a:r>
          </a:p>
          <a:p>
            <a:r>
              <a:rPr lang="ru-RU" b="1" dirty="0"/>
              <a:t>Типы последствий:</a:t>
            </a:r>
            <a:endParaRPr lang="ru-RU" dirty="0"/>
          </a:p>
          <a:p>
            <a:pPr lvl="1"/>
            <a:r>
              <a:rPr lang="ru-RU" i="1" dirty="0"/>
              <a:t>Разрушающие:</a:t>
            </a:r>
            <a:r>
              <a:rPr lang="ru-RU" dirty="0"/>
              <a:t> Компонент выходит из строя навсегда (сгорел блок питания).</a:t>
            </a:r>
          </a:p>
          <a:p>
            <a:pPr lvl="1"/>
            <a:r>
              <a:rPr lang="ru-RU" i="1" dirty="0"/>
              <a:t>Неразрушающие (сбой бита):</a:t>
            </a:r>
            <a:r>
              <a:rPr lang="ru-RU" dirty="0"/>
              <a:t> Ошибка в работе, исчезающая после перезагрузки (RAM ECC ошибка).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216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05008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3. Основные </a:t>
            </a:r>
            <a:r>
              <a:rPr lang="ru-RU" b="1" dirty="0"/>
              <a:t>компоненты и их уязвимости </a:t>
            </a:r>
          </a:p>
          <a:p>
            <a:r>
              <a:rPr lang="ru-RU" b="1" dirty="0"/>
              <a:t>Блок питания (PSU)</a:t>
            </a:r>
          </a:p>
          <a:p>
            <a:r>
              <a:rPr lang="ru-RU" b="1" dirty="0"/>
              <a:t>95% сбоев:</a:t>
            </a:r>
            <a:r>
              <a:rPr lang="ru-RU" dirty="0"/>
              <a:t> Вздутие конденсаторов (потеря емкости), пробой диодных мостов.</a:t>
            </a:r>
          </a:p>
          <a:p>
            <a:r>
              <a:rPr lang="ru-RU" i="1" dirty="0"/>
              <a:t>Симптомы:</a:t>
            </a:r>
            <a:r>
              <a:rPr lang="ru-RU" dirty="0"/>
              <a:t> Спонтанная перезагрузка под нагрузкой, запах гари.</a:t>
            </a:r>
          </a:p>
          <a:p>
            <a:r>
              <a:rPr lang="ru-RU" b="1" dirty="0"/>
              <a:t>Жесткий диск (HDD/SSD)</a:t>
            </a:r>
          </a:p>
          <a:p>
            <a:r>
              <a:rPr lang="ru-RU" b="1" dirty="0"/>
              <a:t>HDD:</a:t>
            </a:r>
            <a:r>
              <a:rPr lang="ru-RU" dirty="0"/>
              <a:t> </a:t>
            </a:r>
            <a:r>
              <a:rPr lang="ru-RU" dirty="0" err="1"/>
              <a:t>Бэд</a:t>
            </a:r>
            <a:r>
              <a:rPr lang="ru-RU" dirty="0"/>
              <a:t>-блоки (нарушение магнитного слоя), отказ головок или «клик смерти».</a:t>
            </a:r>
          </a:p>
          <a:p>
            <a:r>
              <a:rPr lang="ru-RU" b="1" dirty="0"/>
              <a:t>SSD:</a:t>
            </a:r>
            <a:r>
              <a:rPr lang="ru-RU" dirty="0"/>
              <a:t> Превышение лимита циклов перезаписи (TBW), выход из строя контроллера (особенно на QLC-памяти).</a:t>
            </a:r>
          </a:p>
          <a:p>
            <a:r>
              <a:rPr lang="ru-RU" i="1" dirty="0"/>
              <a:t>Статистика:</a:t>
            </a:r>
            <a:r>
              <a:rPr lang="ru-RU" dirty="0"/>
              <a:t> Чаще всего выходят из строя диски в возрасте 3–5 лет.</a:t>
            </a:r>
          </a:p>
          <a:p>
            <a:r>
              <a:rPr lang="ru-RU" b="1" dirty="0"/>
              <a:t>Оперативная память (RAM)</a:t>
            </a:r>
          </a:p>
          <a:p>
            <a:r>
              <a:rPr lang="ru-RU" b="1" dirty="0"/>
              <a:t>Сбой одиночного бита</a:t>
            </a:r>
            <a:r>
              <a:rPr lang="ru-RU" dirty="0"/>
              <a:t> из-за альфа-частиц или </a:t>
            </a:r>
            <a:r>
              <a:rPr lang="ru-RU" dirty="0" err="1"/>
              <a:t>флип</a:t>
            </a:r>
            <a:r>
              <a:rPr lang="ru-RU" dirty="0"/>
              <a:t>-флопа (мягкая ошибка).</a:t>
            </a:r>
          </a:p>
          <a:p>
            <a:r>
              <a:rPr lang="ru-RU" i="1" dirty="0"/>
              <a:t>Результат:</a:t>
            </a:r>
            <a:r>
              <a:rPr lang="ru-RU" dirty="0"/>
              <a:t> BSOD (синий экран), зависания, повреждение данных на диске (грязная запись).</a:t>
            </a:r>
          </a:p>
          <a:p>
            <a:r>
              <a:rPr lang="ru-RU" b="1" dirty="0"/>
              <a:t>Центральный процессор (CPU)</a:t>
            </a:r>
          </a:p>
          <a:p>
            <a:r>
              <a:rPr lang="ru-RU" dirty="0"/>
              <a:t>Относительно надежен, но страдает от </a:t>
            </a:r>
            <a:r>
              <a:rPr lang="ru-RU" b="1" dirty="0"/>
              <a:t>перегрева</a:t>
            </a:r>
            <a:r>
              <a:rPr lang="ru-RU" dirty="0"/>
              <a:t> (срабатывает </a:t>
            </a:r>
            <a:r>
              <a:rPr lang="ru-RU" dirty="0" err="1"/>
              <a:t>троттлинг</a:t>
            </a:r>
            <a:r>
              <a:rPr lang="ru-RU" dirty="0"/>
              <a:t> — пропуск тактов).</a:t>
            </a:r>
          </a:p>
          <a:p>
            <a:r>
              <a:rPr lang="ru-RU" dirty="0"/>
              <a:t>Деградация транзисторов при высоком напряжении (</a:t>
            </a:r>
            <a:r>
              <a:rPr lang="ru-RU" dirty="0" err="1"/>
              <a:t>silicon</a:t>
            </a:r>
            <a:r>
              <a:rPr lang="ru-RU" dirty="0"/>
              <a:t> </a:t>
            </a:r>
            <a:r>
              <a:rPr lang="ru-RU" dirty="0" err="1"/>
              <a:t>aging</a:t>
            </a:r>
            <a:r>
              <a:rPr lang="ru-RU" dirty="0"/>
              <a:t>).</a:t>
            </a:r>
          </a:p>
          <a:p>
            <a:r>
              <a:rPr lang="ru-RU" b="1" dirty="0"/>
              <a:t>Материнская плата (чипсет, VRM)</a:t>
            </a:r>
          </a:p>
          <a:p>
            <a:r>
              <a:rPr lang="ru-RU" dirty="0"/>
              <a:t>Система питания процессора (VRM): пробой </a:t>
            </a:r>
            <a:r>
              <a:rPr lang="ru-RU" dirty="0" err="1"/>
              <a:t>мосфетов</a:t>
            </a:r>
            <a:r>
              <a:rPr lang="ru-RU" dirty="0"/>
              <a:t>.</a:t>
            </a:r>
          </a:p>
          <a:p>
            <a:r>
              <a:rPr lang="ru-RU" dirty="0"/>
              <a:t>Трещины пайки BGA (у </a:t>
            </a:r>
            <a:r>
              <a:rPr lang="ru-RU" dirty="0" err="1"/>
              <a:t>Xbox</a:t>
            </a:r>
            <a:r>
              <a:rPr lang="ru-RU" dirty="0"/>
              <a:t>/PS4/ноутбуков из-за </a:t>
            </a:r>
            <a:r>
              <a:rPr lang="ru-RU" dirty="0" err="1"/>
              <a:t>термоциклов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360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62613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4. Механизм возникновения сбоя </a:t>
            </a:r>
          </a:p>
          <a:p>
            <a:r>
              <a:rPr lang="ru-RU" sz="2400" dirty="0"/>
              <a:t>Процесс по стадиям:</a:t>
            </a:r>
          </a:p>
          <a:p>
            <a:r>
              <a:rPr lang="ru-RU" sz="2400" b="1" dirty="0"/>
              <a:t>Латентная стадия:</a:t>
            </a:r>
            <a:r>
              <a:rPr lang="ru-RU" sz="2400" dirty="0"/>
              <a:t> Микротрещина пайки или разогрев конденсатора.</a:t>
            </a:r>
          </a:p>
          <a:p>
            <a:r>
              <a:rPr lang="ru-RU" sz="2400" b="1" dirty="0" err="1"/>
              <a:t>Предотказ</a:t>
            </a:r>
            <a:r>
              <a:rPr lang="ru-RU" sz="2400" b="1" dirty="0"/>
              <a:t>:</a:t>
            </a:r>
            <a:r>
              <a:rPr lang="ru-RU" sz="2400" dirty="0"/>
              <a:t> Компьютер на нагрузке работает со сбоями (</a:t>
            </a:r>
            <a:r>
              <a:rPr lang="ru-RU" sz="2400" dirty="0" err="1"/>
              <a:t>глитчи</a:t>
            </a:r>
            <a:r>
              <a:rPr lang="ru-RU" sz="2400" dirty="0"/>
              <a:t> в 3D-играх, артефакты видео).</a:t>
            </a:r>
          </a:p>
          <a:p>
            <a:r>
              <a:rPr lang="ru-RU" sz="2400" b="1" dirty="0"/>
              <a:t>Отказ:</a:t>
            </a:r>
            <a:r>
              <a:rPr lang="ru-RU" sz="2400" dirty="0"/>
              <a:t> Полная остановка. Система не включается или выдает ошибку POST (</a:t>
            </a:r>
            <a:r>
              <a:rPr lang="ru-RU" sz="2400" dirty="0" err="1"/>
              <a:t>Beep</a:t>
            </a:r>
            <a:r>
              <a:rPr lang="ru-RU" sz="2400" dirty="0"/>
              <a:t>-коды BIOS).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2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63445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5. Методы </a:t>
            </a:r>
            <a:r>
              <a:rPr lang="ru-RU" sz="2400" b="1" dirty="0" smtClean="0"/>
              <a:t>диагностики</a:t>
            </a:r>
            <a:endParaRPr lang="ru-RU" sz="2400" b="1" dirty="0"/>
          </a:p>
          <a:p>
            <a:r>
              <a:rPr lang="ru-RU" sz="2400" b="1" dirty="0"/>
              <a:t>Визуальный контроль:</a:t>
            </a:r>
            <a:r>
              <a:rPr lang="ru-RU" sz="2400" dirty="0"/>
              <a:t> Вздутые конденсаторы, подпалины дорожек (темные пятна).</a:t>
            </a:r>
          </a:p>
          <a:p>
            <a:r>
              <a:rPr lang="ru-RU" sz="2400" b="1" dirty="0"/>
              <a:t>Тестеры:</a:t>
            </a:r>
            <a:r>
              <a:rPr lang="ru-RU" sz="2400" dirty="0"/>
              <a:t> POST-карта (</a:t>
            </a:r>
            <a:r>
              <a:rPr lang="ru-RU" sz="2400" dirty="0" err="1"/>
              <a:t>PCIe</a:t>
            </a:r>
            <a:r>
              <a:rPr lang="ru-RU" sz="2400" dirty="0"/>
              <a:t>), замер </a:t>
            </a:r>
            <a:r>
              <a:rPr lang="ru-RU" sz="2400" dirty="0" err="1"/>
              <a:t>мультиметром</a:t>
            </a:r>
            <a:r>
              <a:rPr lang="ru-RU" sz="2400" dirty="0"/>
              <a:t> напряжения (+12В, +5В, +3.3В).</a:t>
            </a:r>
          </a:p>
          <a:p>
            <a:r>
              <a:rPr lang="ru-RU" sz="2400" b="1" dirty="0"/>
              <a:t>ПО Диагностика:</a:t>
            </a:r>
            <a:endParaRPr lang="ru-RU" sz="2400" dirty="0"/>
          </a:p>
          <a:p>
            <a:pPr lvl="1"/>
            <a:r>
              <a:rPr lang="ru-RU" sz="2400" dirty="0"/>
              <a:t>HDD/SSD: </a:t>
            </a:r>
            <a:r>
              <a:rPr lang="ru-RU" sz="2400" dirty="0" err="1"/>
              <a:t>CrystalDiskInfo</a:t>
            </a:r>
            <a:r>
              <a:rPr lang="ru-RU" sz="2400" dirty="0"/>
              <a:t> (</a:t>
            </a:r>
            <a:r>
              <a:rPr lang="ru-RU" sz="2400" dirty="0" err="1"/>
              <a:t>Smart</a:t>
            </a:r>
            <a:r>
              <a:rPr lang="ru-RU" sz="2400" dirty="0"/>
              <a:t>-атрибуты).</a:t>
            </a:r>
          </a:p>
          <a:p>
            <a:pPr lvl="1"/>
            <a:r>
              <a:rPr lang="ru-RU" sz="2400" dirty="0"/>
              <a:t>RAM: MemTest86 (загрузка с </a:t>
            </a:r>
            <a:r>
              <a:rPr lang="ru-RU" sz="2400" dirty="0" err="1"/>
              <a:t>флешки</a:t>
            </a:r>
            <a:r>
              <a:rPr lang="ru-RU" sz="2400" dirty="0"/>
              <a:t>).</a:t>
            </a:r>
          </a:p>
          <a:p>
            <a:pPr lvl="1"/>
            <a:r>
              <a:rPr lang="ru-RU" sz="2400" dirty="0"/>
              <a:t>Нагрев: </a:t>
            </a:r>
            <a:r>
              <a:rPr lang="ru-RU" sz="2400" dirty="0" err="1"/>
              <a:t>FurMark</a:t>
            </a:r>
            <a:r>
              <a:rPr lang="ru-RU" sz="2400" dirty="0"/>
              <a:t>, Prime95 + мониторинг </a:t>
            </a:r>
            <a:r>
              <a:rPr lang="ru-RU" sz="2400" dirty="0" err="1"/>
              <a:t>HWMonitor</a:t>
            </a:r>
            <a:r>
              <a:rPr lang="ru-RU" sz="2400" dirty="0"/>
              <a:t>.</a:t>
            </a:r>
          </a:p>
          <a:p>
            <a:r>
              <a:rPr lang="ru-RU" sz="2400" b="1" dirty="0"/>
              <a:t>Метод исключения:</a:t>
            </a:r>
            <a:r>
              <a:rPr lang="ru-RU" sz="2400" dirty="0"/>
              <a:t> Замена подозрительного модуля на заведомо исправный.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00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8256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6. Методы защиты и профилактики </a:t>
            </a:r>
          </a:p>
          <a:p>
            <a:r>
              <a:rPr lang="ru-RU" b="1" dirty="0"/>
              <a:t>Электропитание:</a:t>
            </a:r>
            <a:endParaRPr lang="ru-RU" dirty="0"/>
          </a:p>
          <a:p>
            <a:pPr lvl="1"/>
            <a:r>
              <a:rPr lang="ru-RU" dirty="0"/>
              <a:t>ИБП (источник бесперебойного питания) — защита от скачков и фильтрация шума.</a:t>
            </a:r>
          </a:p>
          <a:p>
            <a:pPr lvl="1"/>
            <a:r>
              <a:rPr lang="ru-RU" dirty="0"/>
              <a:t>Использование блока питания с сертификатом 80+ (лучше </a:t>
            </a:r>
            <a:r>
              <a:rPr lang="ru-RU" dirty="0" err="1"/>
              <a:t>Platinum</a:t>
            </a:r>
            <a:r>
              <a:rPr lang="ru-RU" dirty="0"/>
              <a:t>/</a:t>
            </a:r>
            <a:r>
              <a:rPr lang="ru-RU" dirty="0" err="1"/>
              <a:t>Titanium</a:t>
            </a:r>
            <a:r>
              <a:rPr lang="ru-RU" dirty="0"/>
              <a:t> для 24/7).</a:t>
            </a:r>
          </a:p>
          <a:p>
            <a:r>
              <a:rPr lang="ru-RU" b="1" dirty="0"/>
              <a:t>Температура:</a:t>
            </a:r>
            <a:endParaRPr lang="ru-RU" dirty="0"/>
          </a:p>
          <a:p>
            <a:pPr lvl="1"/>
            <a:r>
              <a:rPr lang="ru-RU" dirty="0"/>
              <a:t>Замена термопасты каждые 2-3 года.</a:t>
            </a:r>
          </a:p>
          <a:p>
            <a:pPr lvl="1"/>
            <a:r>
              <a:rPr lang="ru-RU" dirty="0"/>
              <a:t>Положительное давление в корпусе (фильтры от пыли).</a:t>
            </a:r>
          </a:p>
          <a:p>
            <a:r>
              <a:rPr lang="ru-RU" b="1" dirty="0"/>
              <a:t>Резервирование:</a:t>
            </a:r>
            <a:endParaRPr lang="ru-RU" dirty="0"/>
          </a:p>
          <a:p>
            <a:pPr lvl="1"/>
            <a:r>
              <a:rPr lang="ru-RU" dirty="0"/>
              <a:t>RAID 1 (зеркало) или RAID 5 для HDD.</a:t>
            </a:r>
          </a:p>
          <a:p>
            <a:pPr lvl="1"/>
            <a:r>
              <a:rPr lang="ru-RU" dirty="0"/>
              <a:t>ECC RAM для серверов и рабочих станций (исправляет одиночные ошибки памяти).</a:t>
            </a:r>
          </a:p>
          <a:p>
            <a:r>
              <a:rPr lang="ru-RU" b="1" dirty="0"/>
              <a:t>Мониторинг:</a:t>
            </a:r>
            <a:r>
              <a:rPr lang="ru-RU" dirty="0"/>
              <a:t> Настройка оповещений по SMAR-атрибутам (</a:t>
            </a:r>
            <a:r>
              <a:rPr lang="ru-RU" dirty="0" err="1"/>
              <a:t>Threshold-Reallocated</a:t>
            </a:r>
            <a:r>
              <a:rPr lang="ru-RU" dirty="0"/>
              <a:t> </a:t>
            </a:r>
            <a:r>
              <a:rPr lang="ru-RU" dirty="0" err="1"/>
              <a:t>Sector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134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4183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7. Практический кейс </a:t>
            </a:r>
          </a:p>
          <a:p>
            <a:r>
              <a:rPr lang="ru-RU" i="1" dirty="0"/>
              <a:t>Ситуация:</a:t>
            </a:r>
            <a:r>
              <a:rPr lang="ru-RU" dirty="0"/>
              <a:t> Сервер баз данных падает раз в 3 дня ночью.</a:t>
            </a:r>
          </a:p>
          <a:p>
            <a:r>
              <a:rPr lang="ru-RU" i="1" dirty="0"/>
              <a:t>Гипотеза 1:</a:t>
            </a:r>
            <a:r>
              <a:rPr lang="ru-RU" dirty="0"/>
              <a:t> Проблема в софте (OS/</a:t>
            </a:r>
            <a:r>
              <a:rPr lang="ru-RU" dirty="0" err="1"/>
              <a:t>Driver</a:t>
            </a:r>
            <a:r>
              <a:rPr lang="ru-RU" dirty="0"/>
              <a:t>). </a:t>
            </a:r>
            <a:r>
              <a:rPr lang="ru-RU" i="1" dirty="0"/>
              <a:t>Проверяем:</a:t>
            </a:r>
            <a:r>
              <a:rPr lang="ru-RU" dirty="0"/>
              <a:t> </a:t>
            </a:r>
            <a:r>
              <a:rPr lang="ru-RU" dirty="0" err="1"/>
              <a:t>Логи</a:t>
            </a:r>
            <a:r>
              <a:rPr lang="ru-RU" dirty="0"/>
              <a:t> </a:t>
            </a:r>
            <a:r>
              <a:rPr lang="ru-RU" dirty="0" err="1"/>
              <a:t>Windows</a:t>
            </a:r>
            <a:r>
              <a:rPr lang="ru-RU" dirty="0"/>
              <a:t> — чисто.</a:t>
            </a:r>
          </a:p>
          <a:p>
            <a:r>
              <a:rPr lang="ru-RU" i="1" dirty="0"/>
              <a:t>Гипотеза 2:</a:t>
            </a:r>
            <a:r>
              <a:rPr lang="ru-RU" dirty="0"/>
              <a:t> Перегрев. </a:t>
            </a:r>
            <a:r>
              <a:rPr lang="ru-RU" i="1" dirty="0"/>
              <a:t>Проверяем:</a:t>
            </a:r>
            <a:r>
              <a:rPr lang="ru-RU" dirty="0"/>
              <a:t> </a:t>
            </a:r>
            <a:r>
              <a:rPr lang="ru-RU" dirty="0" err="1"/>
              <a:t>Логи</a:t>
            </a:r>
            <a:r>
              <a:rPr lang="ru-RU" dirty="0"/>
              <a:t> температуры — в норме (45°C).</a:t>
            </a:r>
          </a:p>
          <a:p>
            <a:r>
              <a:rPr lang="ru-RU" i="1" dirty="0"/>
              <a:t>Диагностика:</a:t>
            </a:r>
            <a:r>
              <a:rPr lang="ru-RU" dirty="0"/>
              <a:t> Запускаем memtest86. На 2-м проходе обнаружена ошибка на адресе 0x7F3A.</a:t>
            </a:r>
          </a:p>
          <a:p>
            <a:r>
              <a:rPr lang="ru-RU" i="1" dirty="0"/>
              <a:t>Вердикт:</a:t>
            </a:r>
            <a:r>
              <a:rPr lang="ru-RU" dirty="0"/>
              <a:t> Замена планки RAM. Сервер стабилен.</a:t>
            </a:r>
          </a:p>
          <a:p>
            <a:r>
              <a:rPr lang="ru-RU" i="1" dirty="0"/>
              <a:t>Вывод:</a:t>
            </a:r>
            <a:r>
              <a:rPr lang="ru-RU" dirty="0"/>
              <a:t> Аппаратный сбой памяти маскировался под </a:t>
            </a:r>
            <a:r>
              <a:rPr lang="ru-RU" dirty="0" err="1"/>
              <a:t>софтовый</a:t>
            </a:r>
            <a:r>
              <a:rPr lang="ru-RU" dirty="0"/>
              <a:t> вылет.</a:t>
            </a:r>
          </a:p>
          <a:p>
            <a:endParaRPr lang="ru-RU" b="1" dirty="0" smtClean="0"/>
          </a:p>
          <a:p>
            <a:endParaRPr lang="ru-RU" b="1" dirty="0"/>
          </a:p>
          <a:p>
            <a:r>
              <a:rPr lang="ru-RU" b="1" dirty="0" smtClean="0"/>
              <a:t>8</a:t>
            </a:r>
            <a:r>
              <a:rPr lang="ru-RU" b="1" dirty="0"/>
              <a:t>. Заключение </a:t>
            </a:r>
          </a:p>
          <a:p>
            <a:r>
              <a:rPr lang="ru-RU" dirty="0"/>
              <a:t>Полностью исключить аппаратные сбои нельзя из-за законов физики (деградация кремния и электролитов).</a:t>
            </a:r>
          </a:p>
          <a:p>
            <a:r>
              <a:rPr lang="ru-RU" b="1" dirty="0"/>
              <a:t>Задача инженера:</a:t>
            </a:r>
            <a:r>
              <a:rPr lang="ru-RU" dirty="0"/>
              <a:t> Свести риск к минимуму через мониторинг, резервирование и своевременное обслуживание (замена кулеров, чистка, контроль напряжения).</a:t>
            </a:r>
          </a:p>
          <a:p>
            <a:r>
              <a:rPr lang="ru-RU" b="1" dirty="0"/>
              <a:t>Правило 3-2-1</a:t>
            </a:r>
            <a:r>
              <a:rPr lang="ru-RU" dirty="0"/>
              <a:t> для данных: 3 копии, 2 разных носителя, 1 </a:t>
            </a:r>
            <a:r>
              <a:rPr lang="ru-RU" dirty="0" err="1"/>
              <a:t>оффлайн</a:t>
            </a:r>
            <a:r>
              <a:rPr lang="ru-RU" dirty="0"/>
              <a:t>-копия — спасет, когда </a:t>
            </a:r>
            <a:r>
              <a:rPr lang="ru-RU" dirty="0" err="1"/>
              <a:t>аппатный</a:t>
            </a:r>
            <a:r>
              <a:rPr lang="ru-RU" dirty="0"/>
              <a:t> сбой все же случится.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4582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59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Вопросы:</a:t>
            </a:r>
            <a:endParaRPr lang="ru-RU" b="1" dirty="0"/>
          </a:p>
          <a:p>
            <a:r>
              <a:rPr lang="ru-RU" dirty="0" smtClean="0"/>
              <a:t>1. Как </a:t>
            </a:r>
            <a:r>
              <a:rPr lang="ru-RU" dirty="0"/>
              <a:t>часто нужно менять термопасту на вашем рабочем ПК?</a:t>
            </a:r>
          </a:p>
          <a:p>
            <a:r>
              <a:rPr lang="ru-RU" dirty="0" smtClean="0"/>
              <a:t>2. Сталкивались </a:t>
            </a:r>
            <a:r>
              <a:rPr lang="ru-RU" dirty="0"/>
              <a:t>ли вы с эффектом «проклятых конденсаторов» (</a:t>
            </a:r>
            <a:r>
              <a:rPr lang="ru-RU" dirty="0" err="1"/>
              <a:t>motherboard</a:t>
            </a:r>
            <a:r>
              <a:rPr lang="ru-RU" dirty="0"/>
              <a:t> </a:t>
            </a:r>
            <a:r>
              <a:rPr lang="ru-RU" dirty="0" err="1"/>
              <a:t>capacitor</a:t>
            </a:r>
            <a:r>
              <a:rPr lang="ru-RU" dirty="0"/>
              <a:t> </a:t>
            </a:r>
            <a:r>
              <a:rPr lang="ru-RU" dirty="0" err="1"/>
              <a:t>plague</a:t>
            </a:r>
            <a:r>
              <a:rPr lang="ru-RU" dirty="0"/>
              <a:t> 1999-2007)?</a:t>
            </a:r>
          </a:p>
          <a:p>
            <a:r>
              <a:rPr lang="ru-RU" dirty="0" smtClean="0"/>
              <a:t>3. Используете </a:t>
            </a:r>
            <a:r>
              <a:rPr lang="ru-RU" dirty="0"/>
              <a:t>ли вы защиту от импульсных перенапряжений?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844344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TM02900688[[fn=Аспект]]</Template>
  <TotalTime>54</TotalTime>
  <Words>235</Words>
  <Application>Microsoft Office PowerPoint</Application>
  <PresentationFormat>Широкоэкранный</PresentationFormat>
  <Paragraphs>75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Аппаратные сбои компьютерных систем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Аппаратные сбои компьютерных систем</dc:title>
  <dc:creator>PC</dc:creator>
  <cp:lastModifiedBy>PC</cp:lastModifiedBy>
  <cp:revision>3</cp:revision>
  <dcterms:created xsi:type="dcterms:W3CDTF">2026-05-12T06:55:37Z</dcterms:created>
  <dcterms:modified xsi:type="dcterms:W3CDTF">2026-05-12T07:50:04Z</dcterms:modified>
</cp:coreProperties>
</file>