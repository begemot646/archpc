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404" autoAdjust="0"/>
  </p:normalViewPr>
  <p:slideViewPr>
    <p:cSldViewPr snapToGrid="0">
      <p:cViewPr varScale="1">
        <p:scale>
          <a:sx n="111" d="100"/>
          <a:sy n="111" d="100"/>
        </p:scale>
        <p:origin x="5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4FC32DF-5BF3-489C-9D72-95E101D1A8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4277CA0-D1AC-4792-97E2-AFD0A6738E78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76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32DF-5BF3-489C-9D72-95E101D1A8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7CA0-D1AC-4792-97E2-AFD0A6738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915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32DF-5BF3-489C-9D72-95E101D1A8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7CA0-D1AC-4792-97E2-AFD0A6738E78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68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32DF-5BF3-489C-9D72-95E101D1A8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7CA0-D1AC-4792-97E2-AFD0A6738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960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32DF-5BF3-489C-9D72-95E101D1A8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7CA0-D1AC-4792-97E2-AFD0A6738E78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28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32DF-5BF3-489C-9D72-95E101D1A8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7CA0-D1AC-4792-97E2-AFD0A6738E78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315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32DF-5BF3-489C-9D72-95E101D1A8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7CA0-D1AC-4792-97E2-AFD0A6738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0774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32DF-5BF3-489C-9D72-95E101D1A8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7CA0-D1AC-4792-97E2-AFD0A6738E78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560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32DF-5BF3-489C-9D72-95E101D1A8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7CA0-D1AC-4792-97E2-AFD0A6738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334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32DF-5BF3-489C-9D72-95E101D1A8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7CA0-D1AC-4792-97E2-AFD0A6738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32DF-5BF3-489C-9D72-95E101D1A8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7CA0-D1AC-4792-97E2-AFD0A6738E78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748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32DF-5BF3-489C-9D72-95E101D1A8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7CA0-D1AC-4792-97E2-AFD0A6738E78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777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32DF-5BF3-489C-9D72-95E101D1A8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7CA0-D1AC-4792-97E2-AFD0A6738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467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32DF-5BF3-489C-9D72-95E101D1A8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7CA0-D1AC-4792-97E2-AFD0A6738E78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74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32DF-5BF3-489C-9D72-95E101D1A8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7CA0-D1AC-4792-97E2-AFD0A6738E78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27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32DF-5BF3-489C-9D72-95E101D1A8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7CA0-D1AC-4792-97E2-AFD0A6738E78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710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32DF-5BF3-489C-9D72-95E101D1A8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7CA0-D1AC-4792-97E2-AFD0A6738E78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655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4FC32DF-5BF3-489C-9D72-95E101D1A8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4277CA0-D1AC-4792-97E2-AFD0A6738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125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1081" y="2926847"/>
            <a:ext cx="6815669" cy="1515533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Общий принцип построения компьютерных сетей</a:t>
            </a:r>
            <a:br>
              <a:rPr lang="ru-RU" b="1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420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5142" y="556952"/>
            <a:ext cx="1095617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1. </a:t>
            </a:r>
            <a:r>
              <a:rPr lang="ru-RU" sz="2400" b="1" dirty="0" smtClean="0"/>
              <a:t>Введение</a:t>
            </a:r>
            <a:r>
              <a:rPr lang="en-US" sz="2400" b="1" dirty="0"/>
              <a:t>.</a:t>
            </a:r>
            <a:endParaRPr lang="ru-RU" sz="2400" b="1" dirty="0"/>
          </a:p>
          <a:p>
            <a:r>
              <a:rPr lang="ru-RU" sz="2400" b="1" dirty="0"/>
              <a:t>Актуальность:</a:t>
            </a:r>
            <a:r>
              <a:rPr lang="ru-RU" sz="2400" dirty="0"/>
              <a:t> Современный мир невозможно представить без обмена данными. Компьютерные сети — это фундамент, на котором держится интернет, корпоративные системы и связь между устройствами.</a:t>
            </a:r>
          </a:p>
          <a:p>
            <a:r>
              <a:rPr lang="ru-RU" sz="2400" b="1" dirty="0"/>
              <a:t>Цель доклада:</a:t>
            </a:r>
            <a:r>
              <a:rPr lang="ru-RU" sz="2400" dirty="0"/>
              <a:t> Понять, как физически и логически устроена сеть, чтобы устройства могли «понимать» друг друга.</a:t>
            </a:r>
          </a:p>
          <a:p>
            <a:r>
              <a:rPr lang="ru-RU" sz="2400" b="1" dirty="0"/>
              <a:t>Ключевой вопрос:</a:t>
            </a:r>
            <a:r>
              <a:rPr lang="ru-RU" sz="2400" dirty="0"/>
              <a:t> Как из двух компьютеров и провода сделать единую систему?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2509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9262" y="529819"/>
            <a:ext cx="1104777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2. Базовые компоненты </a:t>
            </a:r>
            <a:r>
              <a:rPr lang="ru-RU" b="1" dirty="0" smtClean="0"/>
              <a:t>сети</a:t>
            </a:r>
            <a:endParaRPr lang="ru-RU" b="1" dirty="0"/>
          </a:p>
          <a:p>
            <a:r>
              <a:rPr lang="ru-RU" dirty="0"/>
              <a:t>Любая сеть строится из трех основных элементов:</a:t>
            </a:r>
          </a:p>
          <a:p>
            <a:r>
              <a:rPr lang="ru-RU" b="1" dirty="0"/>
              <a:t>Узлы (</a:t>
            </a:r>
            <a:r>
              <a:rPr lang="ru-RU" b="1" dirty="0" err="1"/>
              <a:t>Hosts</a:t>
            </a:r>
            <a:r>
              <a:rPr lang="ru-RU" b="1" dirty="0"/>
              <a:t>):</a:t>
            </a:r>
            <a:r>
              <a:rPr lang="ru-RU" dirty="0"/>
              <a:t> устройства, которые генерируют или потребляют данные (компьютеры, серверы, </a:t>
            </a:r>
            <a:r>
              <a:rPr lang="ru-RU" dirty="0" smtClean="0"/>
              <a:t>принтеры</a:t>
            </a:r>
            <a:r>
              <a:rPr lang="ru-RU" dirty="0"/>
              <a:t>)</a:t>
            </a:r>
          </a:p>
          <a:p>
            <a:r>
              <a:rPr lang="ru-RU" b="1" dirty="0"/>
              <a:t>Среда передачи (</a:t>
            </a:r>
            <a:r>
              <a:rPr lang="ru-RU" b="1" dirty="0" err="1"/>
              <a:t>Medium</a:t>
            </a:r>
            <a:r>
              <a:rPr lang="ru-RU" b="1" dirty="0"/>
              <a:t>):</a:t>
            </a:r>
            <a:r>
              <a:rPr lang="ru-RU" dirty="0"/>
              <a:t> то, по чему идет сигнал:</a:t>
            </a:r>
          </a:p>
          <a:p>
            <a:pPr lvl="1"/>
            <a:r>
              <a:rPr lang="ru-RU" i="1" dirty="0"/>
              <a:t>Проводная:</a:t>
            </a:r>
            <a:r>
              <a:rPr lang="ru-RU" dirty="0"/>
              <a:t> витая пара, коаксиальный кабель, оптоволокно.</a:t>
            </a:r>
          </a:p>
          <a:p>
            <a:pPr lvl="1"/>
            <a:r>
              <a:rPr lang="ru-RU" i="1" dirty="0"/>
              <a:t>Беспроводная:</a:t>
            </a:r>
            <a:r>
              <a:rPr lang="ru-RU" dirty="0"/>
              <a:t> радиоволны (</a:t>
            </a:r>
            <a:r>
              <a:rPr lang="ru-RU" dirty="0" err="1"/>
              <a:t>Wi-Fi</a:t>
            </a:r>
            <a:r>
              <a:rPr lang="ru-RU" dirty="0"/>
              <a:t>, </a:t>
            </a:r>
            <a:r>
              <a:rPr lang="ru-RU" dirty="0" err="1"/>
              <a:t>Bluetooth</a:t>
            </a:r>
            <a:r>
              <a:rPr lang="ru-RU" dirty="0"/>
              <a:t>, LTE, 5G).</a:t>
            </a:r>
          </a:p>
          <a:p>
            <a:r>
              <a:rPr lang="ru-RU" b="1" dirty="0"/>
              <a:t>Правила (Протоколы):</a:t>
            </a:r>
            <a:r>
              <a:rPr lang="ru-RU" dirty="0"/>
              <a:t> наборы инструкций, которые диктуют, как упаковать, адресовать и отправить данные, чтобы получатель их понял.</a:t>
            </a:r>
          </a:p>
          <a:p>
            <a:r>
              <a:rPr lang="ru-RU" b="1" dirty="0"/>
              <a:t>3. Главный принцип: «Разделяй и властвуй» (Модель OSI) </a:t>
            </a:r>
          </a:p>
          <a:p>
            <a:r>
              <a:rPr lang="ru-RU" dirty="0"/>
              <a:t>Сети строятся по </a:t>
            </a:r>
            <a:r>
              <a:rPr lang="ru-RU" b="1" dirty="0"/>
              <a:t>уровневому принципу</a:t>
            </a:r>
            <a:r>
              <a:rPr lang="ru-RU" dirty="0"/>
              <a:t>. Задача разбивается на небольшие подзадачи, каждая из которых решается на своем уровне.</a:t>
            </a:r>
          </a:p>
          <a:p>
            <a:r>
              <a:rPr lang="ru-RU" i="1" dirty="0"/>
              <a:t>Эталонная модель OSI (</a:t>
            </a:r>
            <a:r>
              <a:rPr lang="ru-RU" i="1" dirty="0" err="1"/>
              <a:t>Open</a:t>
            </a:r>
            <a:r>
              <a:rPr lang="ru-RU" i="1" dirty="0"/>
              <a:t> </a:t>
            </a:r>
            <a:r>
              <a:rPr lang="ru-RU" i="1" dirty="0" err="1"/>
              <a:t>Systems</a:t>
            </a:r>
            <a:r>
              <a:rPr lang="ru-RU" i="1" dirty="0"/>
              <a:t> </a:t>
            </a:r>
            <a:r>
              <a:rPr lang="ru-RU" i="1" dirty="0" err="1"/>
              <a:t>Interconnection</a:t>
            </a:r>
            <a:r>
              <a:rPr lang="ru-RU" i="1" dirty="0"/>
              <a:t>)</a:t>
            </a:r>
            <a:r>
              <a:rPr lang="ru-RU" dirty="0"/>
              <a:t> насчитывает 7 уровней, но для понимания сути достаточно упрощённой модели:</a:t>
            </a:r>
          </a:p>
          <a:p>
            <a:r>
              <a:rPr lang="ru-RU" b="1" dirty="0"/>
              <a:t>Прикладной уровень:</a:t>
            </a:r>
            <a:r>
              <a:rPr lang="ru-RU" dirty="0"/>
              <a:t> То, что видит пользователь (браузер, почта, файлы — HTTP, SMTP, FTP).</a:t>
            </a:r>
          </a:p>
          <a:p>
            <a:r>
              <a:rPr lang="ru-RU" b="1" dirty="0"/>
              <a:t>Транспортный уровень:</a:t>
            </a:r>
            <a:r>
              <a:rPr lang="ru-RU" dirty="0"/>
              <a:t> Отвечает за надежность доставки (разбивает данные на куски, проверяет, что всё дошло — TCP / UDP).</a:t>
            </a:r>
          </a:p>
          <a:p>
            <a:r>
              <a:rPr lang="ru-RU" b="1" dirty="0"/>
              <a:t>Сетевой уровень:</a:t>
            </a:r>
            <a:r>
              <a:rPr lang="ru-RU" dirty="0"/>
              <a:t> Отвечает за маршрутизацию (куда именно идти, как найти получателя — IP-протокол).</a:t>
            </a:r>
          </a:p>
          <a:p>
            <a:r>
              <a:rPr lang="ru-RU" b="1" dirty="0"/>
              <a:t>Канальный уровень:</a:t>
            </a:r>
            <a:r>
              <a:rPr lang="ru-RU" dirty="0"/>
              <a:t> Работа с физическим адресом устройства (MAC-адрес) внутри локальной сети.</a:t>
            </a:r>
          </a:p>
          <a:p>
            <a:r>
              <a:rPr lang="ru-RU" b="1" dirty="0"/>
              <a:t>Физический уровень:</a:t>
            </a:r>
            <a:r>
              <a:rPr lang="ru-RU" dirty="0"/>
              <a:t> Сами биты (0 и 1), напряжение, разъемы, кабели, радиоволны.</a:t>
            </a:r>
          </a:p>
          <a:p>
            <a:r>
              <a:rPr lang="ru-RU" b="1" dirty="0"/>
              <a:t>Суть принципа:</a:t>
            </a:r>
            <a:r>
              <a:rPr lang="ru-RU" dirty="0"/>
              <a:t> Каждый уровень работает только со «своим» соседом на другом компьютере, не вникая в детали других уровней.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389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3630" y="621101"/>
            <a:ext cx="10972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4. Передача данных: </a:t>
            </a:r>
            <a:r>
              <a:rPr lang="ru-RU" b="1" dirty="0" smtClean="0"/>
              <a:t>Инкапсуляция</a:t>
            </a:r>
            <a:endParaRPr lang="ru-RU" b="1" dirty="0"/>
          </a:p>
          <a:p>
            <a:r>
              <a:rPr lang="ru-RU" dirty="0"/>
              <a:t>Общий принцип работы похож на отправку письма по почте:</a:t>
            </a:r>
          </a:p>
          <a:p>
            <a:r>
              <a:rPr lang="ru-RU" b="1" dirty="0"/>
              <a:t>Данные</a:t>
            </a:r>
            <a:r>
              <a:rPr lang="ru-RU" dirty="0"/>
              <a:t> пользователя (например, текст «Привет») — это содержимое.</a:t>
            </a:r>
          </a:p>
          <a:p>
            <a:r>
              <a:rPr lang="ru-RU" dirty="0"/>
              <a:t>На транспортном уровне данные оборачиваются в </a:t>
            </a:r>
            <a:r>
              <a:rPr lang="ru-RU" b="1" dirty="0"/>
              <a:t>конверт</a:t>
            </a:r>
            <a:r>
              <a:rPr lang="ru-RU" dirty="0"/>
              <a:t> (заголовок TCP с номером порта).</a:t>
            </a:r>
          </a:p>
          <a:p>
            <a:r>
              <a:rPr lang="ru-RU" dirty="0"/>
              <a:t>На сетевом уровне этот конверт кладется в </a:t>
            </a:r>
            <a:r>
              <a:rPr lang="ru-RU" b="1" dirty="0"/>
              <a:t>коробку</a:t>
            </a:r>
            <a:r>
              <a:rPr lang="ru-RU" dirty="0"/>
              <a:t> (IP-пакет с адресом получателя).</a:t>
            </a:r>
          </a:p>
          <a:p>
            <a:r>
              <a:rPr lang="ru-RU" dirty="0"/>
              <a:t>На канальном уровне коробка упаковывается в </a:t>
            </a:r>
            <a:r>
              <a:rPr lang="ru-RU" b="1" dirty="0"/>
              <a:t>посылку</a:t>
            </a:r>
            <a:r>
              <a:rPr lang="ru-RU" dirty="0"/>
              <a:t> (кадр </a:t>
            </a:r>
            <a:r>
              <a:rPr lang="ru-RU" dirty="0" err="1"/>
              <a:t>Ethernet</a:t>
            </a:r>
            <a:r>
              <a:rPr lang="ru-RU" dirty="0"/>
              <a:t> с MAC-адресами).</a:t>
            </a:r>
          </a:p>
          <a:p>
            <a:r>
              <a:rPr lang="ru-RU" dirty="0"/>
              <a:t>Физический уровень отправляет посылку по проводу в виде электрических импульсов.</a:t>
            </a:r>
          </a:p>
          <a:p>
            <a:r>
              <a:rPr lang="ru-RU" dirty="0"/>
              <a:t>На стороне получателя происходит обратный процесс (</a:t>
            </a:r>
            <a:r>
              <a:rPr lang="ru-RU" i="1" dirty="0" err="1"/>
              <a:t>деинкапсуляция</a:t>
            </a:r>
            <a:r>
              <a:rPr lang="ru-RU" dirty="0"/>
              <a:t>) — посылка разворачивается слой за слоем, и текст «Привет» попадает в приложение.</a:t>
            </a:r>
          </a:p>
          <a:p>
            <a:r>
              <a:rPr lang="ru-RU" b="1" dirty="0"/>
              <a:t>5. Сетевые адреса: Ключ к </a:t>
            </a:r>
            <a:r>
              <a:rPr lang="ru-RU" b="1" dirty="0" smtClean="0"/>
              <a:t>построению</a:t>
            </a:r>
            <a:endParaRPr lang="ru-RU" b="1" dirty="0"/>
          </a:p>
          <a:p>
            <a:r>
              <a:rPr lang="ru-RU" dirty="0"/>
              <a:t>Чтобы данные дошли именно к вам, используются два типа адресов:</a:t>
            </a:r>
          </a:p>
          <a:p>
            <a:r>
              <a:rPr lang="ru-RU" b="1" dirty="0"/>
              <a:t>IP-адрес (Логический):</a:t>
            </a:r>
            <a:r>
              <a:rPr lang="ru-RU" dirty="0"/>
              <a:t> Как ваш почтовый индекс + город. Может меняться. Позволяет маршрутизаторам направлять пакет через интернет.</a:t>
            </a:r>
          </a:p>
          <a:p>
            <a:r>
              <a:rPr lang="ru-RU" b="1" dirty="0"/>
              <a:t>MAC-адрес (Физический):</a:t>
            </a:r>
            <a:r>
              <a:rPr lang="ru-RU" dirty="0"/>
              <a:t> Как отпечаток пальца, прошит в сетевой карте на заводе. Работает только в пределах одной локальной сети.</a:t>
            </a:r>
          </a:p>
          <a:p>
            <a:r>
              <a:rPr lang="ru-RU" b="1" dirty="0"/>
              <a:t>Связка:</a:t>
            </a:r>
            <a:r>
              <a:rPr lang="ru-RU" dirty="0"/>
              <a:t> Сетевой уровень ищет нужную сеть (по IP), а когда пакет дошел до дома — канальный уровень ищет нужный компьютер в этой сети (по MAC).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7241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8521" y="655608"/>
            <a:ext cx="109641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6. Топологии: Как соединять устройства </a:t>
            </a:r>
          </a:p>
          <a:p>
            <a:r>
              <a:rPr lang="ru-RU" sz="2800" dirty="0"/>
              <a:t>Общий принцип соединения — это топология. Самые распространенные:</a:t>
            </a:r>
          </a:p>
          <a:p>
            <a:r>
              <a:rPr lang="ru-RU" sz="2800" b="1" dirty="0"/>
              <a:t>Шина (</a:t>
            </a:r>
            <a:r>
              <a:rPr lang="ru-RU" sz="2800" b="1" dirty="0" err="1"/>
              <a:t>Bus</a:t>
            </a:r>
            <a:r>
              <a:rPr lang="ru-RU" sz="2800" b="1" dirty="0"/>
              <a:t>):</a:t>
            </a:r>
            <a:r>
              <a:rPr lang="ru-RU" sz="2800" dirty="0"/>
              <a:t> Все компьютеры на одном кабеле (устарела, но проста).</a:t>
            </a:r>
          </a:p>
          <a:p>
            <a:r>
              <a:rPr lang="ru-RU" sz="2800" b="1" dirty="0"/>
              <a:t>Звезда (</a:t>
            </a:r>
            <a:r>
              <a:rPr lang="ru-RU" sz="2800" b="1" dirty="0" err="1"/>
              <a:t>Star</a:t>
            </a:r>
            <a:r>
              <a:rPr lang="ru-RU" sz="2800" b="1" dirty="0"/>
              <a:t>):</a:t>
            </a:r>
            <a:r>
              <a:rPr lang="ru-RU" sz="2800" dirty="0"/>
              <a:t> Все устройства подключены к одному коммутатору (</a:t>
            </a:r>
            <a:r>
              <a:rPr lang="ru-RU" sz="2800" dirty="0" err="1"/>
              <a:t>Switch</a:t>
            </a:r>
            <a:r>
              <a:rPr lang="ru-RU" sz="2800" dirty="0"/>
              <a:t>) или роутеру. </a:t>
            </a:r>
            <a:r>
              <a:rPr lang="ru-RU" sz="2800" i="1" dirty="0"/>
              <a:t>Базовый принцип дома или в офисе.</a:t>
            </a:r>
            <a:endParaRPr lang="ru-RU" sz="2800" dirty="0"/>
          </a:p>
          <a:p>
            <a:r>
              <a:rPr lang="ru-RU" sz="2800" b="1" dirty="0"/>
              <a:t>Кольцо (</a:t>
            </a:r>
            <a:r>
              <a:rPr lang="ru-RU" sz="2800" b="1" dirty="0" err="1"/>
              <a:t>Ring</a:t>
            </a:r>
            <a:r>
              <a:rPr lang="ru-RU" sz="2800" b="1" dirty="0"/>
              <a:t>):</a:t>
            </a:r>
            <a:r>
              <a:rPr lang="ru-RU" sz="2800" dirty="0"/>
              <a:t> Данные ходят по кругу.</a:t>
            </a:r>
          </a:p>
          <a:p>
            <a:r>
              <a:rPr lang="ru-RU" sz="2800" b="1" dirty="0"/>
              <a:t>Ячеистая (</a:t>
            </a:r>
            <a:r>
              <a:rPr lang="ru-RU" sz="2800" b="1" dirty="0" err="1"/>
              <a:t>Mesh</a:t>
            </a:r>
            <a:r>
              <a:rPr lang="ru-RU" sz="2800" b="1" dirty="0"/>
              <a:t>):</a:t>
            </a:r>
            <a:r>
              <a:rPr lang="ru-RU" sz="2800" dirty="0"/>
              <a:t> Каждый узел соединен с каждым (сервера дата-центров, критическая связь).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048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692553"/>
              </p:ext>
            </p:extLst>
          </p:nvPr>
        </p:nvGraphicFramePr>
        <p:xfrm>
          <a:off x="3622470" y="2630718"/>
          <a:ext cx="4613613" cy="3416888"/>
        </p:xfrm>
        <a:graphic>
          <a:graphicData uri="http://schemas.openxmlformats.org/drawingml/2006/table">
            <a:tbl>
              <a:tblPr/>
              <a:tblGrid>
                <a:gridCol w="1537871">
                  <a:extLst>
                    <a:ext uri="{9D8B030D-6E8A-4147-A177-3AD203B41FA5}">
                      <a16:colId xmlns:a16="http://schemas.microsoft.com/office/drawing/2014/main" val="2714583117"/>
                    </a:ext>
                  </a:extLst>
                </a:gridCol>
                <a:gridCol w="1537871">
                  <a:extLst>
                    <a:ext uri="{9D8B030D-6E8A-4147-A177-3AD203B41FA5}">
                      <a16:colId xmlns:a16="http://schemas.microsoft.com/office/drawing/2014/main" val="4201670908"/>
                    </a:ext>
                  </a:extLst>
                </a:gridCol>
                <a:gridCol w="1537871">
                  <a:extLst>
                    <a:ext uri="{9D8B030D-6E8A-4147-A177-3AD203B41FA5}">
                      <a16:colId xmlns:a16="http://schemas.microsoft.com/office/drawing/2014/main" val="2034047332"/>
                    </a:ext>
                  </a:extLst>
                </a:gridCol>
              </a:tblGrid>
              <a:tr h="476086">
                <a:tc>
                  <a:txBody>
                    <a:bodyPr/>
                    <a:lstStyle/>
                    <a:p>
                      <a:pPr algn="l"/>
                      <a:r>
                        <a:rPr lang="ru-RU" sz="1200" b="0">
                          <a:effectLst/>
                          <a:latin typeface="quote-cjk-patch"/>
                        </a:rPr>
                        <a:t>Устройство</a:t>
                      </a:r>
                    </a:p>
                  </a:txBody>
                  <a:tcPr marL="58897" marR="98162" marT="61351" marB="61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>
                          <a:effectLst/>
                          <a:latin typeface="quote-cjk-patch"/>
                        </a:rPr>
                        <a:t>Принцип действия</a:t>
                      </a:r>
                    </a:p>
                  </a:txBody>
                  <a:tcPr marL="98162" marR="98162" marT="61351" marB="61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>
                          <a:effectLst/>
                          <a:latin typeface="quote-cjk-patch"/>
                        </a:rPr>
                        <a:t>Уровень модели </a:t>
                      </a:r>
                      <a:r>
                        <a:rPr lang="en-US" sz="1200" b="0">
                          <a:effectLst/>
                          <a:latin typeface="quote-cjk-patch"/>
                        </a:rPr>
                        <a:t>OSI</a:t>
                      </a:r>
                    </a:p>
                  </a:txBody>
                  <a:tcPr marL="98162" marR="98162" marT="61351" marB="61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44863"/>
                  </a:ext>
                </a:extLst>
              </a:tr>
              <a:tr h="476086"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quote-cjk-patch"/>
                        </a:rPr>
                        <a:t>Повторитель (</a:t>
                      </a:r>
                      <a:r>
                        <a:rPr lang="en-US" sz="1200" b="1">
                          <a:effectLst/>
                          <a:latin typeface="quote-cjk-patch"/>
                        </a:rPr>
                        <a:t>Repeater)/</a:t>
                      </a:r>
                      <a:r>
                        <a:rPr lang="ru-RU" sz="1200" b="1">
                          <a:effectLst/>
                          <a:latin typeface="quote-cjk-patch"/>
                        </a:rPr>
                        <a:t>Хаб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58897" marR="98162" marT="61351" marB="61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Просто усиливает сигнал</a:t>
                      </a:r>
                    </a:p>
                  </a:txBody>
                  <a:tcPr marL="98162" marR="98162" marT="61351" marB="61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Физический</a:t>
                      </a:r>
                    </a:p>
                  </a:txBody>
                  <a:tcPr marL="98162" marR="58897" marT="61351" marB="61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698691"/>
                  </a:ext>
                </a:extLst>
              </a:tr>
              <a:tr h="1006160"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quote-cjk-patch"/>
                        </a:rPr>
                        <a:t>Коммутатор (</a:t>
                      </a:r>
                      <a:r>
                        <a:rPr lang="en-US" sz="1200" b="1">
                          <a:effectLst/>
                          <a:latin typeface="quote-cjk-patch"/>
                        </a:rPr>
                        <a:t>Switch)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58897" marR="98162" marT="61351" marB="61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Смотрит на MAC-адрес и отправляет кадр строго нужному порту</a:t>
                      </a:r>
                    </a:p>
                  </a:txBody>
                  <a:tcPr marL="98162" marR="98162" marT="61351" marB="61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Канальный</a:t>
                      </a:r>
                    </a:p>
                  </a:txBody>
                  <a:tcPr marL="98162" marR="58897" marT="61351" marB="61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04119"/>
                  </a:ext>
                </a:extLst>
              </a:tr>
              <a:tr h="1359543"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quote-cjk-patch"/>
                        </a:rPr>
                        <a:t>Маршрутизатор (</a:t>
                      </a:r>
                      <a:r>
                        <a:rPr lang="en-US" sz="1200" b="1">
                          <a:effectLst/>
                          <a:latin typeface="quote-cjk-patch"/>
                        </a:rPr>
                        <a:t>Router)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58897" marR="98162" marT="61351" marB="61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Смотрит на IP-адрес, строит маршрут между разными сетями (соединяет локальную сеть с Интернетом)</a:t>
                      </a:r>
                    </a:p>
                  </a:txBody>
                  <a:tcPr marL="98162" marR="98162" marT="61351" marB="61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quote-cjk-patch"/>
                        </a:rPr>
                        <a:t>Сетевой</a:t>
                      </a:r>
                    </a:p>
                  </a:txBody>
                  <a:tcPr marL="98162" marR="58897" marT="61351" marB="61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48646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475" y="621101"/>
            <a:ext cx="109814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7. Оборудование для построение сетей.</a:t>
            </a:r>
          </a:p>
          <a:p>
            <a:r>
              <a:rPr lang="ru-RU" sz="2400" b="1" dirty="0"/>
              <a:t>Золотое правило:</a:t>
            </a:r>
            <a:r>
              <a:rPr lang="ru-RU" sz="2400" dirty="0"/>
              <a:t> Все устройства внутри дома/офиса соединяются через </a:t>
            </a:r>
            <a:r>
              <a:rPr lang="ru-RU" sz="2400" i="1" dirty="0"/>
              <a:t>коммутатор</a:t>
            </a:r>
            <a:r>
              <a:rPr lang="ru-RU" sz="2400" dirty="0"/>
              <a:t>, а выход во внешний мир (интернет) — через </a:t>
            </a:r>
            <a:r>
              <a:rPr lang="ru-RU" sz="2400" i="1" dirty="0"/>
              <a:t>маршрутизатор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196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1487" y="612475"/>
            <a:ext cx="108865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8. </a:t>
            </a:r>
            <a:r>
              <a:rPr lang="ru-RU" sz="2400" b="1" dirty="0" smtClean="0"/>
              <a:t>Заключение</a:t>
            </a:r>
            <a:endParaRPr lang="ru-RU" sz="2400" b="1" dirty="0"/>
          </a:p>
          <a:p>
            <a:r>
              <a:rPr lang="ru-RU" sz="2400" b="1" dirty="0"/>
              <a:t>Общий принцип построения сетей можно сформулировать тремя тезисами:</a:t>
            </a:r>
            <a:endParaRPr lang="ru-RU" sz="2400" dirty="0"/>
          </a:p>
          <a:p>
            <a:r>
              <a:rPr lang="ru-RU" sz="2400" b="1" dirty="0" err="1"/>
              <a:t>Многоуровневость</a:t>
            </a:r>
            <a:r>
              <a:rPr lang="ru-RU" sz="2400" b="1" dirty="0"/>
              <a:t>:</a:t>
            </a:r>
            <a:r>
              <a:rPr lang="ru-RU" sz="2400" dirty="0"/>
              <a:t> Сложная задача передачи делится на простые этапы (модель OSI/TCP/IP).</a:t>
            </a:r>
          </a:p>
          <a:p>
            <a:r>
              <a:rPr lang="ru-RU" sz="2400" b="1" dirty="0"/>
              <a:t>Инкапсуляция:</a:t>
            </a:r>
            <a:r>
              <a:rPr lang="ru-RU" sz="2400" dirty="0"/>
              <a:t> Каждый уровень добавляет свою служебную информацию (заголовок) к данным.</a:t>
            </a:r>
          </a:p>
          <a:p>
            <a:r>
              <a:rPr lang="ru-RU" sz="2400" b="1" dirty="0"/>
              <a:t>Адресация как основа:</a:t>
            </a:r>
            <a:r>
              <a:rPr lang="ru-RU" sz="2400" dirty="0"/>
              <a:t> Логический адрес (IP) для поиска пути, физический (MAC) для доставки внутри последней мили.</a:t>
            </a:r>
          </a:p>
          <a:p>
            <a:r>
              <a:rPr lang="ru-RU" sz="2400" dirty="0"/>
              <a:t>Знание этих принципов позволяет понять, почему не работает интернет при обрыве провода (физ. уровень) или при сбое настроек IP (сетевой уровень), и как строить отказоустойчивые и быстрые сети.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48365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74</TotalTime>
  <Words>140</Words>
  <Application>Microsoft Office PowerPoint</Application>
  <PresentationFormat>Широкоэкранный</PresentationFormat>
  <Paragraphs>60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Garamond</vt:lpstr>
      <vt:lpstr>quote-cjk-patch</vt:lpstr>
      <vt:lpstr>Натуральные материалы</vt:lpstr>
      <vt:lpstr>Общий принцип построения компьютерных сетей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Общий принцип построения компьютерных сетей</dc:title>
  <dc:creator>PC</dc:creator>
  <cp:lastModifiedBy>PC</cp:lastModifiedBy>
  <cp:revision>3</cp:revision>
  <dcterms:created xsi:type="dcterms:W3CDTF">2026-05-12T07:51:49Z</dcterms:created>
  <dcterms:modified xsi:type="dcterms:W3CDTF">2026-05-12T09:06:02Z</dcterms:modified>
</cp:coreProperties>
</file>